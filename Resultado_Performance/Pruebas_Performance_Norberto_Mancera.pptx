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257" r:id="rId5"/>
    <p:sldId id="268" r:id="rId6"/>
    <p:sldId id="267" r:id="rId7"/>
    <p:sldId id="272" r:id="rId8"/>
    <p:sldId id="269" r:id="rId9"/>
    <p:sldId id="270" r:id="rId10"/>
    <p:sldId id="259" r:id="rId11"/>
    <p:sldId id="261" r:id="rId12"/>
    <p:sldId id="262" r:id="rId13"/>
    <p:sldId id="273" r:id="rId14"/>
    <p:sldId id="274" r:id="rId15"/>
    <p:sldId id="263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71" r:id="rId26"/>
  </p:sldIdLst>
  <p:sldSz cx="12188825" cy="6858000"/>
  <p:notesSz cx="6858000" cy="9144000"/>
  <p:defaultTextStyle>
    <a:defPPr rtl="0">
      <a:defRPr lang="es-e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2B4F6D-CFEF-43C1-AE25-BC50AD2A54DF}" v="116" dt="2026-02-14T12:24:13.0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395" autoAdjust="0"/>
  </p:normalViewPr>
  <p:slideViewPr>
    <p:cSldViewPr>
      <p:cViewPr varScale="1">
        <p:scale>
          <a:sx n="61" d="100"/>
          <a:sy n="61" d="100"/>
        </p:scale>
        <p:origin x="1098" y="28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478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8F1D84B-F747-4821-8617-FBD61E8F4308}" type="datetime1">
              <a:rPr lang="es-ES" smtClean="0"/>
              <a:t>14/02/2026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es-ES" smtClean="0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A87C823-BB9F-45DA-99AB-416A32E1B948}" type="datetime1">
              <a:rPr lang="es-ES" noProof="0" smtClean="0"/>
              <a:pPr/>
              <a:t>14/02/2026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3EBA5BD7-F043-4D1B-AA17-CD412FC534DE}" type="slidenum">
              <a:rPr lang="es-ES" noProof="0" smtClean="0"/>
              <a:pPr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867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451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1317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91764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51806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8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358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9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72739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16359-5628-C720-D2BA-5F605590B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4F8491-1FE6-C28C-A0B3-AFE50307A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0A8AFA-0057-13D6-A765-D725B4083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321D09-E358-1A46-CE26-5224574A1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10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44540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2B28-DB5B-EB92-4D75-6E12F386F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DADC31B-BB33-0BAD-0A8A-D6E99F6A6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C5019D2-F048-AA56-531E-609FD3BA0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F4C543-F511-6686-6228-32412A9247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11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43968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12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37636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61D65-3212-F9A8-1CDF-E248F602A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A4EF6A7-ECED-0D81-9784-B56F1BC91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1146582-EAE7-1F46-F6B6-841C5B997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1E8F28-9573-5E5E-F9E4-C65DE6C9D6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13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214632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BAA1D-25F6-A829-2744-62F1F7DFB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5E8DBF-319D-35C1-6787-68C8619FA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C83D386-F3FC-84DF-2569-A701C53CE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E4FFF6-CE25-3366-2BBB-E1C72DC8AB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14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28191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FD2C5-4C8F-8D18-35BA-7813ED40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B60DCA0-C10A-CEF5-C94B-5F6E01574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6B2337-32FE-634B-BA50-D44258C0C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072056-35BB-5871-C14D-8A00EBE708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15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733671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6990C-C4B5-1476-58EB-09FC0617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89054F3-9AA3-93D1-9A7B-7288A6078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6468729-8385-7E7E-77D2-E2B0C2392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3B3E78-45DE-B559-193F-9EDE48538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16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94329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58FC5-303E-651C-06AE-20A2D47C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94210A6-14F8-C4C8-41A3-88EC1DDF4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52C0C6-700E-A129-6638-9ECDDDCF6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121406-03AD-129A-05E6-1D4FEA614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17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749546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B64D9-D477-2C52-5594-DBAC1E556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834C42-5E85-94E1-1DBA-25BD8F8AE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59F58DF-D0AF-2FFC-9F77-7A940E0DD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6AD37D-8410-7A9C-BA08-E535F71FF6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18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29173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E8DE-AA94-C05F-F1EE-2EB10D1B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E2024E6-A88D-F962-9411-15AE7FD8E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6E6EE72-2FE4-9BAC-CD2A-07826C222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B4E371-7B39-B5E7-CF79-CDF99834A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19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59020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1554D-B34F-F60C-CC5D-822857DC7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70F605-B3EA-15FB-F5A6-F18F2CDE4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476A459-F66D-4C0E-3E17-B7C321869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35651B-C88D-44F2-F93F-7AEAC6BF0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20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9815727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4748-2597-B0F1-BB14-D1277D9D5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50DB1A1-A3B1-93F6-B186-3250D1F83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17D7CE5-AD2C-913B-054E-AFD620E50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99CB86-FB9B-D1CD-6AE2-BAF197E448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21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831565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22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83337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c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íne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b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0" name="Forma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2" name="Marcador de posición de fech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042E67D-14C0-4ED9-A218-9C14494A6A84}" type="datetime1">
              <a:rPr lang="es-ES" noProof="0" smtClean="0"/>
              <a:pPr/>
              <a:t>14/02/2026</a:t>
            </a:fld>
            <a:endParaRPr lang="es-ES" noProof="0" dirty="0"/>
          </a:p>
        </p:txBody>
      </p:sp>
      <p:sp>
        <p:nvSpPr>
          <p:cNvPr id="23" name="Marcador de posición de pie de página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24" name="Marcador de posición de número de diapositiva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2E48AAE-5AE8-418A-A225-B506C222F2F9}" type="datetime1">
              <a:rPr lang="es-ES" noProof="0" smtClean="0"/>
              <a:pPr/>
              <a:t>14/02/2026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c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c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A1D35CA-82F5-4AD4-B9EC-66E805B73542}" type="datetime1">
              <a:rPr lang="es-ES" noProof="0" smtClean="0"/>
              <a:pPr/>
              <a:t>14/02/2026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4CCE92-710B-4678-B1B1-EFCAA5CDF075}" type="datetime1">
              <a:rPr lang="es-ES" noProof="0" smtClean="0"/>
              <a:pPr/>
              <a:t>14/02/2026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FB0F2C-25D9-4D7E-B43A-29A2E16C960D}" type="datetime1">
              <a:rPr lang="es-ES" noProof="0" smtClean="0"/>
              <a:pPr/>
              <a:t>14/02/2026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D34687D-B11B-47A5-95F6-B79DA932A6DF}" type="datetime1">
              <a:rPr lang="es-ES" noProof="0" smtClean="0"/>
              <a:pPr/>
              <a:t>14/02/2026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3C656DE-1E46-4450-9484-A739B4FADFBC}" type="datetime1">
              <a:rPr lang="es-ES" noProof="0" smtClean="0"/>
              <a:pPr/>
              <a:t>14/02/2026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EA77F8B-D469-4ECD-B91E-3B01AD692331}" type="datetime1">
              <a:rPr lang="es-ES" noProof="0" smtClean="0"/>
              <a:pPr/>
              <a:t>14/02/2026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9BA7B1C-709E-4257-93A5-EC2F0807D42F}" type="datetime1">
              <a:rPr lang="es-ES" noProof="0" smtClean="0"/>
              <a:pPr/>
              <a:t>14/02/2026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0A1DB83-C382-4684-8887-65A03EA4FFF0}" type="datetime1">
              <a:rPr lang="es-ES" noProof="0" smtClean="0"/>
              <a:pPr/>
              <a:t>14/02/2026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60E81D3-9B82-44CA-B1F9-FCEFDC87935B}" type="datetime1">
              <a:rPr lang="es-ES" noProof="0" smtClean="0"/>
              <a:pPr/>
              <a:t>14/02/2026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íneas a la izqui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b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4" name="Forma lib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83AD5-F5AF-4BDC-901E-85A05CCFFAAA}" type="datetime1">
              <a:rPr lang="es-ES" noProof="0" smtClean="0"/>
              <a:pPr/>
              <a:t>14/02/2026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/>
              <a:t>PERFORMANCE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es-ES" dirty="0"/>
              <a:t>https://homebanking-demo.onrender.com/docs#/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OBJETIVO: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/>
        <p:txBody>
          <a:bodyPr rtlCol="0">
            <a:normAutofit fontScale="62500" lnSpcReduction="20000"/>
          </a:bodyPr>
          <a:lstStyle/>
          <a:p>
            <a:r>
              <a:rPr lang="es-MX" dirty="0"/>
              <a:t>Evaluar la capacidad del candidato para </a:t>
            </a:r>
            <a:r>
              <a:rPr lang="es-MX" b="1" dirty="0"/>
              <a:t>diseñar, ejecutar, analizar y concluir </a:t>
            </a:r>
            <a:endParaRPr lang="es-MX" dirty="0"/>
          </a:p>
          <a:p>
            <a:r>
              <a:rPr lang="es-MX" b="1" dirty="0"/>
              <a:t>pruebas No Funcionales </a:t>
            </a:r>
            <a:r>
              <a:rPr lang="es-MX" dirty="0"/>
              <a:t>usando una herramienta de performance (</a:t>
            </a:r>
            <a:r>
              <a:rPr lang="es-MX" b="1" dirty="0"/>
              <a:t>Apache </a:t>
            </a:r>
            <a:r>
              <a:rPr lang="es-MX" b="1" dirty="0" err="1"/>
              <a:t>JMeter</a:t>
            </a:r>
            <a:r>
              <a:rPr lang="es-MX" b="1" dirty="0"/>
              <a:t> o </a:t>
            </a:r>
            <a:endParaRPr lang="es-MX" dirty="0"/>
          </a:p>
          <a:p>
            <a:r>
              <a:rPr lang="es-MX" b="1" dirty="0" err="1"/>
              <a:t>Gatling</a:t>
            </a:r>
            <a:r>
              <a:rPr lang="es-MX" dirty="0"/>
              <a:t>), evidenciando comprensión de: </a:t>
            </a:r>
          </a:p>
          <a:p>
            <a:r>
              <a:rPr lang="es-MX" dirty="0"/>
              <a:t>• Concurrencia </a:t>
            </a:r>
          </a:p>
          <a:p>
            <a:r>
              <a:rPr lang="es-MX" dirty="0"/>
              <a:t>• Carga </a:t>
            </a:r>
          </a:p>
          <a:p>
            <a:r>
              <a:rPr lang="es-MX" dirty="0"/>
              <a:t>• Estrés </a:t>
            </a:r>
          </a:p>
          <a:p>
            <a:r>
              <a:rPr lang="es-MX" dirty="0"/>
              <a:t>• Picos </a:t>
            </a:r>
          </a:p>
          <a:p>
            <a:r>
              <a:rPr lang="es-MX" dirty="0"/>
              <a:t>• Pruebas escalonadas </a:t>
            </a:r>
          </a:p>
          <a:p>
            <a:r>
              <a:rPr lang="es-MX" dirty="0"/>
              <a:t>• Análisis de métricas </a:t>
            </a:r>
          </a:p>
          <a:p>
            <a:r>
              <a:rPr lang="es-MX" dirty="0"/>
              <a:t>• Interpretación de resultados </a:t>
            </a:r>
          </a:p>
          <a:p>
            <a:r>
              <a:rPr lang="es-MX" dirty="0"/>
              <a:t>• Buenas prácticas de performance testing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O" b="1" dirty="0"/>
              <a:t>OBJETIVO DE LA PRUEBA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0F2C60-3AD5-CF08-69C6-D68D14E76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701797"/>
            <a:ext cx="11089231" cy="4462272"/>
          </a:xfrm>
        </p:spPr>
        <p:txBody>
          <a:bodyPr>
            <a:normAutofit/>
          </a:bodyPr>
          <a:lstStyle/>
          <a:p>
            <a:r>
              <a:rPr lang="es-MX" sz="1800" dirty="0"/>
              <a:t>Evaluar el comportamiento, estabilidad y capacidad del servicio </a:t>
            </a:r>
            <a:r>
              <a:rPr lang="es-MX" sz="1800" b="1" dirty="0" err="1"/>
              <a:t>HomeBanking</a:t>
            </a:r>
            <a:r>
              <a:rPr lang="es-MX" sz="1800" b="1" dirty="0"/>
              <a:t> – Pagos y Transferencias</a:t>
            </a:r>
            <a:r>
              <a:rPr lang="es-MX" sz="1800" dirty="0"/>
              <a:t> bajo diferentes niveles de carga, garantizando que responda de manera eficiente ante escenarios reales de uso.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0208B-ED58-3EE4-5F73-1B4088B02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Alcance del Servicio Evaluado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4BC7D5-8E6A-C7B6-F509-CC64482C7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1800" dirty="0"/>
              <a:t>Consultas de cuentas (GET /cuentas)</a:t>
            </a:r>
          </a:p>
          <a:p>
            <a:r>
              <a:rPr lang="es-MX" sz="1800" dirty="0"/>
              <a:t>Transferencias entre cuentas (POST /transferencias)</a:t>
            </a:r>
          </a:p>
          <a:p>
            <a:r>
              <a:rPr lang="es-MX" sz="1800" dirty="0"/>
              <a:t>Pagos de servicios (POST /pagos/servicios)</a:t>
            </a:r>
          </a:p>
          <a:p>
            <a:r>
              <a:rPr lang="es-MX" sz="1800" dirty="0"/>
              <a:t>Procesamiento de datos mediante CSV Data Set </a:t>
            </a:r>
            <a:r>
              <a:rPr lang="es-MX" sz="1800" dirty="0" err="1"/>
              <a:t>Config</a:t>
            </a:r>
            <a:r>
              <a:rPr lang="es-MX" sz="1800" dirty="0"/>
              <a:t> para simular múltiples usuarios y operaciones reales.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241608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O" dirty="0"/>
              <a:t>Métricas a Analizar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D85B84-1647-2C47-A3EE-A26D6B12B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10360501" cy="4465320"/>
          </a:xfrm>
        </p:spPr>
        <p:txBody>
          <a:bodyPr>
            <a:normAutofit/>
          </a:bodyPr>
          <a:lstStyle/>
          <a:p>
            <a:r>
              <a:rPr lang="es-MX" sz="1800" dirty="0" err="1"/>
              <a:t>Throughput</a:t>
            </a:r>
            <a:r>
              <a:rPr lang="es-MX" sz="1800" dirty="0"/>
              <a:t> promedio (</a:t>
            </a:r>
            <a:r>
              <a:rPr lang="es-MX" sz="1800" dirty="0" err="1"/>
              <a:t>req</a:t>
            </a:r>
            <a:r>
              <a:rPr lang="es-MX" sz="1800" dirty="0"/>
              <a:t>/</a:t>
            </a:r>
            <a:r>
              <a:rPr lang="es-MX" sz="1800" dirty="0" err="1"/>
              <a:t>seg</a:t>
            </a:r>
            <a:r>
              <a:rPr lang="es-MX" sz="1800" dirty="0"/>
              <a:t>)</a:t>
            </a:r>
          </a:p>
          <a:p>
            <a:r>
              <a:rPr lang="es-MX" sz="1800" dirty="0"/>
              <a:t>Tiempos de respuesta: mínimo, máximo y promedio</a:t>
            </a:r>
          </a:p>
          <a:p>
            <a:r>
              <a:rPr lang="es-MX" sz="1800" dirty="0"/>
              <a:t>Percentiles: P90, P95, P99Total de peticiones </a:t>
            </a:r>
            <a:r>
              <a:rPr lang="es-MX" sz="1800" dirty="0" err="1"/>
              <a:t>enviadasTotal</a:t>
            </a:r>
            <a:r>
              <a:rPr lang="es-MX" sz="1800" dirty="0"/>
              <a:t> de errores</a:t>
            </a:r>
          </a:p>
          <a:p>
            <a:r>
              <a:rPr lang="es-MX" sz="1800" dirty="0"/>
              <a:t>Detalle de errores: códigos 400 y 500Comportamiento del servicio bajo carga sostenida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O" dirty="0"/>
              <a:t>Herramientas Utilizadas</a:t>
            </a:r>
            <a:endParaRPr lang="es-E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10204121" cy="2442200"/>
          </a:xfrm>
        </p:spPr>
        <p:txBody>
          <a:bodyPr rtlCol="0">
            <a:noAutofit/>
          </a:bodyPr>
          <a:lstStyle/>
          <a:p>
            <a:r>
              <a:rPr lang="es-CO" sz="1800" dirty="0"/>
              <a:t>Apache Jmeter</a:t>
            </a:r>
          </a:p>
          <a:p>
            <a:r>
              <a:rPr lang="es-CO" sz="1800" dirty="0"/>
              <a:t>Plugins:</a:t>
            </a:r>
          </a:p>
          <a:p>
            <a:pPr lvl="1"/>
            <a:r>
              <a:rPr lang="es-CO" sz="1800" dirty="0" err="1"/>
              <a:t>jp@gc</a:t>
            </a:r>
            <a:r>
              <a:rPr lang="es-CO" sz="1800" dirty="0"/>
              <a:t> – Response Times Percentiles</a:t>
            </a:r>
          </a:p>
          <a:p>
            <a:pPr lvl="1"/>
            <a:r>
              <a:rPr lang="en-US" sz="1800" dirty="0" err="1"/>
              <a:t>jp@gc</a:t>
            </a:r>
            <a:r>
              <a:rPr lang="en-US" sz="1800" dirty="0"/>
              <a:t> – Response Times Over Time</a:t>
            </a:r>
          </a:p>
          <a:p>
            <a:pPr lvl="1"/>
            <a:r>
              <a:rPr lang="fr-FR" sz="1800" dirty="0" err="1"/>
              <a:t>jp@gc</a:t>
            </a:r>
            <a:r>
              <a:rPr lang="fr-FR" sz="1800" dirty="0"/>
              <a:t> – Transactions per Second</a:t>
            </a:r>
          </a:p>
          <a:p>
            <a:pPr lvl="1"/>
            <a:r>
              <a:rPr lang="es-MX" sz="1800" b="1" dirty="0"/>
              <a:t>GitHub </a:t>
            </a:r>
            <a:r>
              <a:rPr lang="es-MX" sz="1800" b="1" dirty="0" err="1"/>
              <a:t>Actions</a:t>
            </a:r>
            <a:r>
              <a:rPr lang="es-MX" sz="1800" dirty="0"/>
              <a:t> para ejecución automática en Windows</a:t>
            </a:r>
          </a:p>
          <a:p>
            <a:pPr lvl="1"/>
            <a:r>
              <a:rPr lang="es-MX" sz="1800" b="1" dirty="0"/>
              <a:t>CSV Data Set </a:t>
            </a:r>
            <a:r>
              <a:rPr lang="es-MX" sz="1800" b="1" dirty="0" err="1"/>
              <a:t>Config</a:t>
            </a:r>
            <a:r>
              <a:rPr lang="es-MX" sz="1800" dirty="0"/>
              <a:t> para pruebas masivas y dinámicas</a:t>
            </a: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MX" dirty="0"/>
              <a:t>Descripción del Servicio Evaluado en la Prueba de Performance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O" dirty="0"/>
              <a:t>Servicio Bajo Prueba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E600508-8379-56A3-3B5C-C414826B73E9}"/>
              </a:ext>
            </a:extLst>
          </p:cNvPr>
          <p:cNvSpPr txBox="1"/>
          <p:nvPr/>
        </p:nvSpPr>
        <p:spPr>
          <a:xfrm>
            <a:off x="981844" y="1498600"/>
            <a:ext cx="1094521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800" dirty="0"/>
              <a:t>El sistema evaluado corresponde a la plataforma </a:t>
            </a:r>
            <a:r>
              <a:rPr lang="es-MX" sz="1800" dirty="0" err="1"/>
              <a:t>HomeBanking</a:t>
            </a:r>
            <a:r>
              <a:rPr lang="es-MX" sz="1800" dirty="0"/>
              <a:t>, la cual ofrece funcionalidades críticas para los usuarios finales, incluyendo: </a:t>
            </a:r>
          </a:p>
          <a:p>
            <a:pPr algn="just"/>
            <a:endParaRPr lang="es-MX" sz="1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b="1" dirty="0"/>
              <a:t>Consulta de cuentas  </a:t>
            </a:r>
          </a:p>
          <a:p>
            <a:pPr algn="just"/>
            <a:r>
              <a:rPr lang="es-MX" sz="1800" dirty="0"/>
              <a:t>      	Permite obtener información actualizada del estado de las cuentas del cliente.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b="1" dirty="0"/>
              <a:t> Transferencias entre cuentas  </a:t>
            </a:r>
          </a:p>
          <a:p>
            <a:pPr algn="just"/>
            <a:r>
              <a:rPr lang="es-MX" sz="1800" dirty="0"/>
              <a:t>      	Procesa movimientos de dinero entre cuentas propias o de terceros.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b="1" dirty="0"/>
              <a:t>Pagos de servicios  </a:t>
            </a:r>
          </a:p>
          <a:p>
            <a:pPr algn="just"/>
            <a:r>
              <a:rPr lang="es-MX" sz="1800" dirty="0"/>
              <a:t>	Gestiona el pago de facturas y obligaciones asociadas a servicios públicos o privados. </a:t>
            </a:r>
          </a:p>
          <a:p>
            <a:pPr algn="just"/>
            <a:r>
              <a:rPr lang="es-MX" sz="1800" dirty="0"/>
              <a:t>Estas operaciones son esenciales para la experiencia del usuario y deben ejecutarse con rapidez, estabilidad y precisión.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MX" dirty="0"/>
              <a:t>Objetivo de la Prueba de Performance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BA7FBAC-91D6-3244-FDDD-4F1FF079CC7C}"/>
              </a:ext>
            </a:extLst>
          </p:cNvPr>
          <p:cNvSpPr txBox="1"/>
          <p:nvPr/>
        </p:nvSpPr>
        <p:spPr>
          <a:xfrm>
            <a:off x="1218882" y="1498600"/>
            <a:ext cx="10780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/>
              <a:t>Validar la capacidad del servicio para manejar carga concurrente y volúmenes crecientes de transacciones, garantizando:</a:t>
            </a:r>
            <a:endParaRPr lang="es-CO" sz="18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3185C9D-80ED-6837-A59D-9FED7B8C6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8273" y="2645590"/>
            <a:ext cx="1013211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Tiempos de respuesta aceptables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Estabilidad bajo carga sostenida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Correcto manejo de errores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Disponibilidad continua del servicio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Comportamiento consistente ante escenarios reales de uso</a:t>
            </a:r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8F025-885C-9AE9-8F58-CF8ED2431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B302B55-425C-47E2-57D6-D3BFD8CBD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O" dirty="0"/>
              <a:t>Escenarios Evaluados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A0B31E1-7951-E74B-2840-0C32C870FFAA}"/>
              </a:ext>
            </a:extLst>
          </p:cNvPr>
          <p:cNvSpPr txBox="1"/>
          <p:nvPr/>
        </p:nvSpPr>
        <p:spPr>
          <a:xfrm>
            <a:off x="1218882" y="1498600"/>
            <a:ext cx="10780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/>
              <a:t>Validar la capacidad del servicio para manejar carga concurrente y volúmenes crecientes de transacciones, garantizando:</a:t>
            </a:r>
            <a:endParaRPr lang="es-CO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63B103-4ABE-7FDC-9D4B-A66E112B6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882" y="2257453"/>
            <a:ext cx="1016759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Consulta masiva de cuentas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Transferencias repetitivas con datos dinámicos (CSV Data Set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Pagos de servicios con diferentes montos y servicios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Ejecución automatizada desde GitHub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Actions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 entorno Windows</a:t>
            </a:r>
          </a:p>
        </p:txBody>
      </p:sp>
    </p:spTree>
    <p:extLst>
      <p:ext uri="{BB962C8B-B14F-4D97-AF65-F5344CB8AC3E}">
        <p14:creationId xmlns:p14="http://schemas.microsoft.com/office/powerpoint/2010/main" val="17926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85E81-349A-015D-172E-767BAA5B0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A577721-76DC-73F2-9136-7852E97DE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CO" dirty="0"/>
              <a:t>Importancia del Servicio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F83CB55-CDC8-30AC-B57F-534839F539FE}"/>
              </a:ext>
            </a:extLst>
          </p:cNvPr>
          <p:cNvSpPr txBox="1"/>
          <p:nvPr/>
        </p:nvSpPr>
        <p:spPr>
          <a:xfrm>
            <a:off x="1341884" y="1628415"/>
            <a:ext cx="103605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dirty="0">
                <a:effectLst/>
              </a:rPr>
              <a:t>Este conjunto de funcionalidades representa el núcleo transaccional del </a:t>
            </a:r>
            <a:r>
              <a:rPr lang="es-MX" dirty="0" err="1">
                <a:effectLst/>
              </a:rPr>
              <a:t>HomeBanking</a:t>
            </a:r>
            <a:r>
              <a:rPr lang="es-MX" dirty="0">
                <a:effectLst/>
              </a:rPr>
              <a:t>. Su desempeño impacta directamente en:</a:t>
            </a:r>
          </a:p>
          <a:p>
            <a:pPr>
              <a:buNone/>
            </a:pPr>
            <a:endParaRPr lang="es-MX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</a:rPr>
              <a:t>La satisfacción del usuario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</a:rPr>
              <a:t>La percepción de confiabilidad del sistema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</a:rPr>
              <a:t>La continuidad operativa del negocio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effectLst/>
              </a:rPr>
              <a:t>La capacidad de escalar ante picos de demanda</a:t>
            </a:r>
          </a:p>
        </p:txBody>
      </p:sp>
    </p:spTree>
    <p:extLst>
      <p:ext uri="{BB962C8B-B14F-4D97-AF65-F5344CB8AC3E}">
        <p14:creationId xmlns:p14="http://schemas.microsoft.com/office/powerpoint/2010/main" val="271937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>
            <a:extLst>
              <a:ext uri="{FF2B5EF4-FFF2-40B4-BE49-F238E27FC236}">
                <a16:creationId xmlns:a16="http://schemas.microsoft.com/office/drawing/2014/main" id="{1C6AC742-8294-EA47-5A9B-371C1149A0F7}"/>
              </a:ext>
            </a:extLst>
          </p:cNvPr>
          <p:cNvSpPr txBox="1">
            <a:spLocks/>
          </p:cNvSpPr>
          <p:nvPr/>
        </p:nvSpPr>
        <p:spPr>
          <a:xfrm>
            <a:off x="914161" y="273273"/>
            <a:ext cx="10360501" cy="1223963"/>
          </a:xfrm>
          <a:prstGeom prst="rect">
            <a:avLst/>
          </a:prstGeom>
        </p:spPr>
        <p:txBody>
          <a:bodyPr rtlCol="0"/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600" dirty="0"/>
              <a:t>Prueba 1.</a:t>
            </a:r>
            <a:endParaRPr lang="es-ES" sz="1600" dirty="0"/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5ADC3E7C-213A-141F-1A55-8ED80D321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486787"/>
              </p:ext>
            </p:extLst>
          </p:nvPr>
        </p:nvGraphicFramePr>
        <p:xfrm>
          <a:off x="977575" y="567419"/>
          <a:ext cx="10796396" cy="9726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9941">
                  <a:extLst>
                    <a:ext uri="{9D8B030D-6E8A-4147-A177-3AD203B41FA5}">
                      <a16:colId xmlns:a16="http://schemas.microsoft.com/office/drawing/2014/main" val="2675317788"/>
                    </a:ext>
                  </a:extLst>
                </a:gridCol>
                <a:gridCol w="1641540">
                  <a:extLst>
                    <a:ext uri="{9D8B030D-6E8A-4147-A177-3AD203B41FA5}">
                      <a16:colId xmlns:a16="http://schemas.microsoft.com/office/drawing/2014/main" val="3324690792"/>
                    </a:ext>
                  </a:extLst>
                </a:gridCol>
                <a:gridCol w="767971">
                  <a:extLst>
                    <a:ext uri="{9D8B030D-6E8A-4147-A177-3AD203B41FA5}">
                      <a16:colId xmlns:a16="http://schemas.microsoft.com/office/drawing/2014/main" val="3516005566"/>
                    </a:ext>
                  </a:extLst>
                </a:gridCol>
                <a:gridCol w="767971">
                  <a:extLst>
                    <a:ext uri="{9D8B030D-6E8A-4147-A177-3AD203B41FA5}">
                      <a16:colId xmlns:a16="http://schemas.microsoft.com/office/drawing/2014/main" val="2875677952"/>
                    </a:ext>
                  </a:extLst>
                </a:gridCol>
                <a:gridCol w="767971">
                  <a:extLst>
                    <a:ext uri="{9D8B030D-6E8A-4147-A177-3AD203B41FA5}">
                      <a16:colId xmlns:a16="http://schemas.microsoft.com/office/drawing/2014/main" val="4033543833"/>
                    </a:ext>
                  </a:extLst>
                </a:gridCol>
                <a:gridCol w="767971">
                  <a:extLst>
                    <a:ext uri="{9D8B030D-6E8A-4147-A177-3AD203B41FA5}">
                      <a16:colId xmlns:a16="http://schemas.microsoft.com/office/drawing/2014/main" val="1474482080"/>
                    </a:ext>
                  </a:extLst>
                </a:gridCol>
                <a:gridCol w="767971">
                  <a:extLst>
                    <a:ext uri="{9D8B030D-6E8A-4147-A177-3AD203B41FA5}">
                      <a16:colId xmlns:a16="http://schemas.microsoft.com/office/drawing/2014/main" val="3027172368"/>
                    </a:ext>
                  </a:extLst>
                </a:gridCol>
                <a:gridCol w="767971">
                  <a:extLst>
                    <a:ext uri="{9D8B030D-6E8A-4147-A177-3AD203B41FA5}">
                      <a16:colId xmlns:a16="http://schemas.microsoft.com/office/drawing/2014/main" val="281056152"/>
                    </a:ext>
                  </a:extLst>
                </a:gridCol>
                <a:gridCol w="767971">
                  <a:extLst>
                    <a:ext uri="{9D8B030D-6E8A-4147-A177-3AD203B41FA5}">
                      <a16:colId xmlns:a16="http://schemas.microsoft.com/office/drawing/2014/main" val="2704488831"/>
                    </a:ext>
                  </a:extLst>
                </a:gridCol>
                <a:gridCol w="767971">
                  <a:extLst>
                    <a:ext uri="{9D8B030D-6E8A-4147-A177-3AD203B41FA5}">
                      <a16:colId xmlns:a16="http://schemas.microsoft.com/office/drawing/2014/main" val="1189253107"/>
                    </a:ext>
                  </a:extLst>
                </a:gridCol>
                <a:gridCol w="1411147">
                  <a:extLst>
                    <a:ext uri="{9D8B030D-6E8A-4147-A177-3AD203B41FA5}">
                      <a16:colId xmlns:a16="http://schemas.microsoft.com/office/drawing/2014/main" val="1819193900"/>
                    </a:ext>
                  </a:extLst>
                </a:gridCol>
              </a:tblGrid>
              <a:tr h="3242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 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 dirty="0">
                          <a:effectLst/>
                        </a:rPr>
                        <a:t>Numero de Transacciones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Promedio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 dirty="0">
                          <a:effectLst/>
                        </a:rPr>
                        <a:t>Mediana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90%Line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95%Line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99%Line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Min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Maximo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Error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Peticiones X Segundo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extLst>
                  <a:ext uri="{0D108BD9-81ED-4DB2-BD59-A6C34878D82A}">
                    <a16:rowId xmlns:a16="http://schemas.microsoft.com/office/drawing/2014/main" val="529684821"/>
                  </a:ext>
                </a:extLst>
              </a:tr>
              <a:tr h="324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Petición HTTP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 dirty="0">
                          <a:effectLst/>
                        </a:rPr>
                        <a:t>25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1207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1110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1748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1818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2006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898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2006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0.0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1.0 Sec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extLst>
                  <a:ext uri="{0D108BD9-81ED-4DB2-BD59-A6C34878D82A}">
                    <a16:rowId xmlns:a16="http://schemas.microsoft.com/office/drawing/2014/main" val="3127465407"/>
                  </a:ext>
                </a:extLst>
              </a:tr>
              <a:tr h="324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TOTAL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25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1207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1110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1748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1818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2006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898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2006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0.0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 dirty="0">
                          <a:effectLst/>
                        </a:rPr>
                        <a:t>1.0 </a:t>
                      </a:r>
                      <a:r>
                        <a:rPr lang="es-CO" sz="1100" u="none" strike="noStrike" dirty="0" err="1">
                          <a:effectLst/>
                        </a:rPr>
                        <a:t>Sec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extLst>
                  <a:ext uri="{0D108BD9-81ED-4DB2-BD59-A6C34878D82A}">
                    <a16:rowId xmlns:a16="http://schemas.microsoft.com/office/drawing/2014/main" val="3833165585"/>
                  </a:ext>
                </a:extLst>
              </a:tr>
            </a:tbl>
          </a:graphicData>
        </a:graphic>
      </p:graphicFrame>
      <p:sp>
        <p:nvSpPr>
          <p:cNvPr id="24" name="CuadroTexto 23">
            <a:extLst>
              <a:ext uri="{FF2B5EF4-FFF2-40B4-BE49-F238E27FC236}">
                <a16:creationId xmlns:a16="http://schemas.microsoft.com/office/drawing/2014/main" id="{4618E4A7-5281-04AF-F893-247303A2FAFD}"/>
              </a:ext>
            </a:extLst>
          </p:cNvPr>
          <p:cNvSpPr txBox="1"/>
          <p:nvPr/>
        </p:nvSpPr>
        <p:spPr>
          <a:xfrm>
            <a:off x="889330" y="1563032"/>
            <a:ext cx="107968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/>
              <a:t>Durante la ejecución de la prueba se enviaron </a:t>
            </a:r>
            <a:r>
              <a:rPr lang="es-MX" sz="1800" b="1" dirty="0">
                <a:effectLst/>
              </a:rPr>
              <a:t>25 solicitudes HTTP</a:t>
            </a:r>
            <a:r>
              <a:rPr lang="es-MX" sz="1800" dirty="0"/>
              <a:t>, todas procesadas correctamente sin errores (</a:t>
            </a:r>
            <a:r>
              <a:rPr lang="es-MX" sz="1800" b="1" dirty="0">
                <a:effectLst/>
              </a:rPr>
              <a:t>0.00% de fallos</a:t>
            </a:r>
            <a:r>
              <a:rPr lang="es-MX" sz="1800" dirty="0"/>
              <a:t>). Los tiempos de respuesta muestran un comportamiento estable, con valores dentro de rangos aceptables para un servicio transaccional.</a:t>
            </a:r>
            <a:endParaRPr lang="es-CO" sz="18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EE88F0A-8F6B-10FE-36C4-315B63D9A1FE}"/>
              </a:ext>
            </a:extLst>
          </p:cNvPr>
          <p:cNvSpPr txBox="1"/>
          <p:nvPr/>
        </p:nvSpPr>
        <p:spPr>
          <a:xfrm>
            <a:off x="917662" y="2486362"/>
            <a:ext cx="961844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/>
              <a:t>Rendimiento</a:t>
            </a:r>
          </a:p>
          <a:p>
            <a:r>
              <a:rPr lang="es-MX" sz="2000" b="1" dirty="0"/>
              <a:t>Promedio:</a:t>
            </a:r>
            <a:r>
              <a:rPr lang="es-MX" sz="2000" dirty="0"/>
              <a:t> 1 solicitud por segundo</a:t>
            </a:r>
          </a:p>
          <a:p>
            <a:r>
              <a:rPr lang="es-MX" sz="2000" b="1" dirty="0"/>
              <a:t>Datos recibidos:</a:t>
            </a:r>
            <a:r>
              <a:rPr lang="es-MX" sz="2000" dirty="0"/>
              <a:t> 1.54 KB/</a:t>
            </a:r>
            <a:r>
              <a:rPr lang="es-MX" sz="2000" dirty="0" err="1"/>
              <a:t>seg</a:t>
            </a:r>
            <a:endParaRPr lang="es-MX" sz="2000" dirty="0"/>
          </a:p>
          <a:p>
            <a:r>
              <a:rPr lang="es-MX" sz="2000" b="1" dirty="0"/>
              <a:t>Datos enviados:</a:t>
            </a:r>
            <a:r>
              <a:rPr lang="es-MX" sz="2000" dirty="0"/>
              <a:t> 0.14 KB/</a:t>
            </a:r>
            <a:r>
              <a:rPr lang="es-MX" sz="2000" dirty="0" err="1"/>
              <a:t>seg</a:t>
            </a:r>
            <a:endParaRPr lang="es-MX" sz="2000" dirty="0"/>
          </a:p>
          <a:p>
            <a:r>
              <a:rPr lang="es-MX" sz="2000" dirty="0"/>
              <a:t>Estos valores indican un consumo de red bajo y adecuado para </a:t>
            </a:r>
            <a:r>
              <a:rPr lang="es-MX" sz="2000" dirty="0" err="1"/>
              <a:t>APIs</a:t>
            </a:r>
            <a:r>
              <a:rPr lang="es-MX" sz="2000" dirty="0"/>
              <a:t> REST.</a:t>
            </a:r>
            <a:endParaRPr lang="es-MX" sz="2000" dirty="0">
              <a:effectLst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ED7F236-CBB1-7187-8788-D07C60D0246B}"/>
              </a:ext>
            </a:extLst>
          </p:cNvPr>
          <p:cNvSpPr txBox="1"/>
          <p:nvPr/>
        </p:nvSpPr>
        <p:spPr>
          <a:xfrm>
            <a:off x="914161" y="4179133"/>
            <a:ext cx="109728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000" b="1" dirty="0">
                <a:effectLst/>
              </a:rPr>
              <a:t>Tiempos de respuesta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>
                <a:effectLst/>
              </a:rPr>
              <a:t>Promedio:</a:t>
            </a:r>
            <a:r>
              <a:rPr lang="es-MX" sz="2000" dirty="0">
                <a:effectLst/>
              </a:rPr>
              <a:t> 1207 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>
                <a:effectLst/>
              </a:rPr>
              <a:t>Mediana:</a:t>
            </a:r>
            <a:r>
              <a:rPr lang="es-MX" sz="2000" dirty="0">
                <a:effectLst/>
              </a:rPr>
              <a:t> 1110 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>
                <a:effectLst/>
              </a:rPr>
              <a:t>Mínimo:</a:t>
            </a:r>
            <a:r>
              <a:rPr lang="es-MX" sz="2000" dirty="0">
                <a:effectLst/>
              </a:rPr>
              <a:t> 898 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b="1" dirty="0">
                <a:effectLst/>
              </a:rPr>
              <a:t>Máximo:</a:t>
            </a:r>
            <a:r>
              <a:rPr lang="es-MX" sz="2000" dirty="0">
                <a:effectLst/>
              </a:rPr>
              <a:t> 2006 ms</a:t>
            </a:r>
          </a:p>
          <a:p>
            <a:r>
              <a:rPr lang="es-MX" sz="2000" dirty="0"/>
              <a:t>Los tiempos se mantienen dentro de un rango estable, sin picos críticos</a:t>
            </a:r>
            <a:endParaRPr lang="es-MX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76442-066E-1DC6-5E97-9256E55DE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DDB03DF-CE6C-3D72-BFBC-6DB111A85923}"/>
              </a:ext>
            </a:extLst>
          </p:cNvPr>
          <p:cNvSpPr txBox="1"/>
          <p:nvPr/>
        </p:nvSpPr>
        <p:spPr>
          <a:xfrm>
            <a:off x="909836" y="332656"/>
            <a:ext cx="108732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1800" b="1" dirty="0">
                <a:effectLst/>
              </a:rPr>
              <a:t>Percentiles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b="1" dirty="0">
                <a:effectLst/>
              </a:rPr>
              <a:t>P90:</a:t>
            </a:r>
            <a:r>
              <a:rPr lang="es-MX" sz="1800" dirty="0">
                <a:effectLst/>
              </a:rPr>
              <a:t> 1748 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b="1" dirty="0">
                <a:effectLst/>
              </a:rPr>
              <a:t>P95:</a:t>
            </a:r>
            <a:r>
              <a:rPr lang="es-MX" sz="1800" dirty="0">
                <a:effectLst/>
              </a:rPr>
              <a:t> 1818 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b="1" dirty="0">
                <a:effectLst/>
              </a:rPr>
              <a:t>P99:</a:t>
            </a:r>
            <a:r>
              <a:rPr lang="es-MX" sz="1800" dirty="0">
                <a:effectLst/>
              </a:rPr>
              <a:t> 2006 ms</a:t>
            </a:r>
          </a:p>
          <a:p>
            <a:pPr>
              <a:buNone/>
            </a:pPr>
            <a:r>
              <a:rPr lang="es-MX" sz="1800" dirty="0">
                <a:effectLst/>
              </a:rPr>
              <a:t>Los percentiles muestran que incluso en los casos más lentos, el servicio mantiene tiempos aceptables y sin degradación alta.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DDDEE4D-7D80-76CD-8667-758A0DCE1FD1}"/>
              </a:ext>
            </a:extLst>
          </p:cNvPr>
          <p:cNvSpPr txBox="1"/>
          <p:nvPr/>
        </p:nvSpPr>
        <p:spPr>
          <a:xfrm>
            <a:off x="941860" y="2348880"/>
            <a:ext cx="105131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1800" b="1" dirty="0">
                <a:effectLst/>
              </a:rPr>
              <a:t>Conclusión</a:t>
            </a:r>
          </a:p>
          <a:p>
            <a:pPr>
              <a:buNone/>
            </a:pPr>
            <a:endParaRPr lang="es-MX" sz="1800" b="1" dirty="0">
              <a:effectLst/>
            </a:endParaRPr>
          </a:p>
          <a:p>
            <a:pPr>
              <a:buNone/>
            </a:pPr>
            <a:r>
              <a:rPr lang="es-MX" sz="1800" dirty="0">
                <a:effectLst/>
              </a:rPr>
              <a:t>El servicio respondió correctamente a todas las solicitudes, mantuvo estabilidad en los tiempos de respuesta y no presentó errores. Los resultados indican que el sistema soporta adecuadamente la carga aplicada en este escenario.</a:t>
            </a:r>
          </a:p>
        </p:txBody>
      </p:sp>
    </p:spTree>
    <p:extLst>
      <p:ext uri="{BB962C8B-B14F-4D97-AF65-F5344CB8AC3E}">
        <p14:creationId xmlns:p14="http://schemas.microsoft.com/office/powerpoint/2010/main" val="416148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D0A33-4D16-BE31-156C-DC9EE36A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EAFC67A-FA7C-D8A1-D7A2-287543312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476672"/>
            <a:ext cx="9497750" cy="414395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6F47EC0-B49C-11F8-01A4-A2DB20920EDB}"/>
              </a:ext>
            </a:extLst>
          </p:cNvPr>
          <p:cNvSpPr txBox="1"/>
          <p:nvPr/>
        </p:nvSpPr>
        <p:spPr>
          <a:xfrm>
            <a:off x="1341884" y="4869160"/>
            <a:ext cx="105851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800" dirty="0"/>
              <a:t>El comportamiento del servicio durante la prueba fue estable y consistente, manteniendo en la mayoría del tiempo un ritmo de 1 solicitud por segundo, lo que indica que el sistema procesó la carga sin saturarse. Se observaron dos picos puntuales de 2 solicitudes por segundo, los cuales fueron manejados correctamente sin generar errores ni degradación visible en el rendimiento.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31572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26CC1-C543-2F19-8A08-CA4DE8EA5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9233BE8F-7BAF-1478-A8B2-A309133F1258}"/>
              </a:ext>
            </a:extLst>
          </p:cNvPr>
          <p:cNvSpPr txBox="1"/>
          <p:nvPr/>
        </p:nvSpPr>
        <p:spPr>
          <a:xfrm>
            <a:off x="1216409" y="4586352"/>
            <a:ext cx="105851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800" dirty="0"/>
              <a:t>El análisis del tiempo de conexión muestra que el servicio mantiene un comportamiento </a:t>
            </a:r>
            <a:r>
              <a:rPr lang="es-MX" sz="1800" b="1" dirty="0"/>
              <a:t>estable y predecible</a:t>
            </a:r>
            <a:r>
              <a:rPr lang="es-MX" sz="1800" dirty="0"/>
              <a:t> durante la mayor parte de la prueba, con valores que se mantienen dentro de un rango normal para una API transaccional. Sin embargo, se observa un </a:t>
            </a:r>
            <a:r>
              <a:rPr lang="es-MX" sz="1800" b="1" dirty="0"/>
              <a:t>pico significativo alrededor del segundo 16</a:t>
            </a:r>
            <a:r>
              <a:rPr lang="es-MX" sz="1800" dirty="0"/>
              <a:t>, donde el tiempo de conexión aumenta de manera abrupta antes de volver rápidamente a la normalidad.</a:t>
            </a:r>
            <a:endParaRPr lang="es-MX" sz="1800" dirty="0"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DFD21E3-1B75-3D7C-6A45-0770D6E3C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958" y="332656"/>
            <a:ext cx="10404078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6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6DA69-E079-6B99-5B32-4E01D902A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A2A8E59-CA9A-38F6-D80E-F33D6F0D91C8}"/>
              </a:ext>
            </a:extLst>
          </p:cNvPr>
          <p:cNvSpPr txBox="1"/>
          <p:nvPr/>
        </p:nvSpPr>
        <p:spPr>
          <a:xfrm>
            <a:off x="1053852" y="404664"/>
            <a:ext cx="105851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s-MX" sz="1800" dirty="0"/>
              <a:t>El servicio responde de forma consistente en condiciones regulares.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MX" sz="1800" dirty="0"/>
              <a:t>El incremento puntual sugiere un </a:t>
            </a:r>
            <a:r>
              <a:rPr lang="es-MX" sz="1800" b="1" dirty="0"/>
              <a:t>evento aislado</a:t>
            </a:r>
            <a:r>
              <a:rPr lang="es-MX" sz="1800" dirty="0"/>
              <a:t>, posiblemente relacionado con latencia momentánea, espera de recursos o congestión temporal.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MX" sz="1800" dirty="0"/>
              <a:t>La rápida recuperación demuestra que el sistema </a:t>
            </a:r>
            <a:r>
              <a:rPr lang="es-MX" sz="1800" b="1" dirty="0"/>
              <a:t>no presenta degradación sostenida</a:t>
            </a:r>
            <a:r>
              <a:rPr lang="es-MX" sz="1800" dirty="0"/>
              <a:t> ni problemas persistentes de conectividad.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MX" sz="1800" dirty="0"/>
              <a:t>En conjunto, el servicio muestra un desempeño sólido, con un único pico que no afecta la estabilidad general de la prueba.</a:t>
            </a:r>
            <a:endParaRPr lang="es-MX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559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622F3-905A-7380-EFA2-E52283B3F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2">
            <a:extLst>
              <a:ext uri="{FF2B5EF4-FFF2-40B4-BE49-F238E27FC236}">
                <a16:creationId xmlns:a16="http://schemas.microsoft.com/office/drawing/2014/main" id="{EEE305A7-8B88-219D-0E16-67C57AA5770E}"/>
              </a:ext>
            </a:extLst>
          </p:cNvPr>
          <p:cNvSpPr txBox="1">
            <a:spLocks/>
          </p:cNvSpPr>
          <p:nvPr/>
        </p:nvSpPr>
        <p:spPr>
          <a:xfrm>
            <a:off x="914161" y="273273"/>
            <a:ext cx="10360501" cy="1223963"/>
          </a:xfrm>
          <a:prstGeom prst="rect">
            <a:avLst/>
          </a:prstGeom>
        </p:spPr>
        <p:txBody>
          <a:bodyPr rtlCol="0"/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600" dirty="0"/>
              <a:t>Prueba 2.</a:t>
            </a:r>
            <a:endParaRPr lang="es-ES" sz="16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1A60C3A-3173-E439-8449-D21E535632B5}"/>
              </a:ext>
            </a:extLst>
          </p:cNvPr>
          <p:cNvSpPr txBox="1"/>
          <p:nvPr/>
        </p:nvSpPr>
        <p:spPr>
          <a:xfrm>
            <a:off x="889330" y="1563032"/>
            <a:ext cx="107968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800" dirty="0"/>
              <a:t>Durante la ejecución de la prueba se enviaron 150</a:t>
            </a:r>
            <a:r>
              <a:rPr lang="es-MX" sz="1800" b="1" dirty="0">
                <a:effectLst/>
              </a:rPr>
              <a:t> solicitudes HTTP</a:t>
            </a:r>
            <a:r>
              <a:rPr lang="es-MX" sz="1800" dirty="0"/>
              <a:t>, todas procesadas correctamente sin errores (</a:t>
            </a:r>
            <a:r>
              <a:rPr lang="es-MX" sz="1800" b="1" dirty="0">
                <a:effectLst/>
              </a:rPr>
              <a:t>0.00% de fallos</a:t>
            </a:r>
            <a:r>
              <a:rPr lang="es-MX" sz="1800" dirty="0"/>
              <a:t>). pero muestra </a:t>
            </a:r>
            <a:r>
              <a:rPr lang="es-MX" sz="1800" b="1" dirty="0"/>
              <a:t>variabilidad significativa</a:t>
            </a:r>
            <a:r>
              <a:rPr lang="es-MX" sz="1800" dirty="0"/>
              <a:t> en los tiempos de respuesta, lo cual indica posibles cuellos de botella intermitentes..</a:t>
            </a:r>
            <a:endParaRPr lang="es-CO" sz="18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1F0B3F88-77C1-734F-B1C4-974A26FCE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967166"/>
              </p:ext>
            </p:extLst>
          </p:nvPr>
        </p:nvGraphicFramePr>
        <p:xfrm>
          <a:off x="914638" y="885254"/>
          <a:ext cx="10360024" cy="5530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5274">
                  <a:extLst>
                    <a:ext uri="{9D8B030D-6E8A-4147-A177-3AD203B41FA5}">
                      <a16:colId xmlns:a16="http://schemas.microsoft.com/office/drawing/2014/main" val="1687602896"/>
                    </a:ext>
                  </a:extLst>
                </a:gridCol>
                <a:gridCol w="1575191">
                  <a:extLst>
                    <a:ext uri="{9D8B030D-6E8A-4147-A177-3AD203B41FA5}">
                      <a16:colId xmlns:a16="http://schemas.microsoft.com/office/drawing/2014/main" val="562562904"/>
                    </a:ext>
                  </a:extLst>
                </a:gridCol>
                <a:gridCol w="736931">
                  <a:extLst>
                    <a:ext uri="{9D8B030D-6E8A-4147-A177-3AD203B41FA5}">
                      <a16:colId xmlns:a16="http://schemas.microsoft.com/office/drawing/2014/main" val="1805480141"/>
                    </a:ext>
                  </a:extLst>
                </a:gridCol>
                <a:gridCol w="736931">
                  <a:extLst>
                    <a:ext uri="{9D8B030D-6E8A-4147-A177-3AD203B41FA5}">
                      <a16:colId xmlns:a16="http://schemas.microsoft.com/office/drawing/2014/main" val="2555359581"/>
                    </a:ext>
                  </a:extLst>
                </a:gridCol>
                <a:gridCol w="736931">
                  <a:extLst>
                    <a:ext uri="{9D8B030D-6E8A-4147-A177-3AD203B41FA5}">
                      <a16:colId xmlns:a16="http://schemas.microsoft.com/office/drawing/2014/main" val="150397373"/>
                    </a:ext>
                  </a:extLst>
                </a:gridCol>
                <a:gridCol w="736931">
                  <a:extLst>
                    <a:ext uri="{9D8B030D-6E8A-4147-A177-3AD203B41FA5}">
                      <a16:colId xmlns:a16="http://schemas.microsoft.com/office/drawing/2014/main" val="1495704690"/>
                    </a:ext>
                  </a:extLst>
                </a:gridCol>
                <a:gridCol w="736931">
                  <a:extLst>
                    <a:ext uri="{9D8B030D-6E8A-4147-A177-3AD203B41FA5}">
                      <a16:colId xmlns:a16="http://schemas.microsoft.com/office/drawing/2014/main" val="2190727785"/>
                    </a:ext>
                  </a:extLst>
                </a:gridCol>
                <a:gridCol w="736931">
                  <a:extLst>
                    <a:ext uri="{9D8B030D-6E8A-4147-A177-3AD203B41FA5}">
                      <a16:colId xmlns:a16="http://schemas.microsoft.com/office/drawing/2014/main" val="1797563313"/>
                    </a:ext>
                  </a:extLst>
                </a:gridCol>
                <a:gridCol w="736931">
                  <a:extLst>
                    <a:ext uri="{9D8B030D-6E8A-4147-A177-3AD203B41FA5}">
                      <a16:colId xmlns:a16="http://schemas.microsoft.com/office/drawing/2014/main" val="1095303962"/>
                    </a:ext>
                  </a:extLst>
                </a:gridCol>
                <a:gridCol w="736931">
                  <a:extLst>
                    <a:ext uri="{9D8B030D-6E8A-4147-A177-3AD203B41FA5}">
                      <a16:colId xmlns:a16="http://schemas.microsoft.com/office/drawing/2014/main" val="568877462"/>
                    </a:ext>
                  </a:extLst>
                </a:gridCol>
                <a:gridCol w="1354111">
                  <a:extLst>
                    <a:ext uri="{9D8B030D-6E8A-4147-A177-3AD203B41FA5}">
                      <a16:colId xmlns:a16="http://schemas.microsoft.com/office/drawing/2014/main" val="2192221149"/>
                    </a:ext>
                  </a:extLst>
                </a:gridCol>
              </a:tblGrid>
              <a:tr h="1843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Prueba 2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Numero de Transacciones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Promedio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Mediana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 dirty="0">
                          <a:effectLst/>
                        </a:rPr>
                        <a:t>90%Line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95%Line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99%Line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Min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Maximo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Error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Peticiones X Segundo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b"/>
                </a:tc>
                <a:extLst>
                  <a:ext uri="{0D108BD9-81ED-4DB2-BD59-A6C34878D82A}">
                    <a16:rowId xmlns:a16="http://schemas.microsoft.com/office/drawing/2014/main" val="1093755359"/>
                  </a:ext>
                </a:extLst>
              </a:tr>
              <a:tr h="1843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Petición HTTP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150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1542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957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3514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4080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2006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855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8492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0.0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1.50 Sec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extLst>
                  <a:ext uri="{0D108BD9-81ED-4DB2-BD59-A6C34878D82A}">
                    <a16:rowId xmlns:a16="http://schemas.microsoft.com/office/drawing/2014/main" val="2019626747"/>
                  </a:ext>
                </a:extLst>
              </a:tr>
              <a:tr h="1843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TOTAL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 dirty="0">
                          <a:effectLst/>
                        </a:rPr>
                        <a:t>150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1542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957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3514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4080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2006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855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8492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>
                          <a:effectLst/>
                        </a:rPr>
                        <a:t>0.0</a:t>
                      </a:r>
                      <a:endParaRPr lang="es-CO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100" u="none" strike="noStrike" dirty="0">
                          <a:effectLst/>
                        </a:rPr>
                        <a:t>1.50 </a:t>
                      </a:r>
                      <a:r>
                        <a:rPr lang="es-CO" sz="1100" u="none" strike="noStrike" dirty="0" err="1">
                          <a:effectLst/>
                        </a:rPr>
                        <a:t>Sec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217" marR="9217" marT="9217" marB="0" anchor="ctr"/>
                </a:tc>
                <a:extLst>
                  <a:ext uri="{0D108BD9-81ED-4DB2-BD59-A6C34878D82A}">
                    <a16:rowId xmlns:a16="http://schemas.microsoft.com/office/drawing/2014/main" val="526888462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349B9780-F7A3-AC9B-0144-7EDC39E5E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024" y="2486362"/>
            <a:ext cx="1038533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mediana baja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(957 ms) indica que el sistema responde bien en condiciones normales.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promedio más alto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(1542 ms) sugiere que hay respuestas lentas que elevan la media.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Los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percentiles altos (p90/p94)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muestran que existe un grupo de peticiones que se degradan fuertemente.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p99 menor que p94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indica una distribución atípica, posiblemente: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 pico aislado muy alto (8492 ms),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 un comportamiento no lineal del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backend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MX" sz="1800" dirty="0"/>
              <a:t>Esto es típico cuando hay </a:t>
            </a:r>
            <a:r>
              <a:rPr lang="es-MX" sz="1800" b="1" dirty="0"/>
              <a:t>colas internas</a:t>
            </a:r>
            <a:r>
              <a:rPr lang="es-MX" sz="1800" dirty="0"/>
              <a:t>, </a:t>
            </a:r>
            <a:r>
              <a:rPr lang="es-MX" sz="1800" b="1" dirty="0"/>
              <a:t>dependencias externas lentas</a:t>
            </a:r>
            <a:r>
              <a:rPr lang="es-MX" sz="1800" dirty="0"/>
              <a:t>, o </a:t>
            </a:r>
            <a:r>
              <a:rPr lang="es-MX" sz="1800" b="1" dirty="0"/>
              <a:t>procesos asincrónicos</a:t>
            </a:r>
            <a:r>
              <a:rPr lang="es-MX" sz="1800" dirty="0"/>
              <a:t> que se congestionan.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8620F88-7059-AFFD-E306-714548EE4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330" y="5042462"/>
            <a:ext cx="1062198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Estabilidad y Confiabilidad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 errores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excelente estabilidad funcional.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1.50 peticiones/segundo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carga baja; si ya hay degradación, el sistema podría no escalar bien bajo mayor concurrencia.</a:t>
            </a:r>
          </a:p>
        </p:txBody>
      </p:sp>
    </p:spTree>
    <p:extLst>
      <p:ext uri="{BB962C8B-B14F-4D97-AF65-F5344CB8AC3E}">
        <p14:creationId xmlns:p14="http://schemas.microsoft.com/office/powerpoint/2010/main" val="428559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436C4-FE2B-0676-33C0-E665353E2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C77AB8D-1C94-1DB9-6766-C7403C84942B}"/>
              </a:ext>
            </a:extLst>
          </p:cNvPr>
          <p:cNvSpPr txBox="1"/>
          <p:nvPr/>
        </p:nvSpPr>
        <p:spPr>
          <a:xfrm>
            <a:off x="909836" y="332656"/>
            <a:ext cx="108732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1800" b="1" dirty="0">
                <a:effectLst/>
              </a:rPr>
              <a:t>Percentiles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b="1" dirty="0">
                <a:effectLst/>
              </a:rPr>
              <a:t>P90:</a:t>
            </a:r>
            <a:r>
              <a:rPr lang="es-MX" sz="1800" dirty="0">
                <a:effectLst/>
              </a:rPr>
              <a:t>  3514 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b="1" dirty="0">
                <a:effectLst/>
              </a:rPr>
              <a:t>P95:</a:t>
            </a:r>
            <a:r>
              <a:rPr lang="es-MX" sz="1800" dirty="0">
                <a:effectLst/>
              </a:rPr>
              <a:t> 4080 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800" b="1" dirty="0">
                <a:effectLst/>
              </a:rPr>
              <a:t>P99:</a:t>
            </a:r>
            <a:r>
              <a:rPr lang="es-MX" sz="1800" dirty="0">
                <a:effectLst/>
              </a:rPr>
              <a:t> 8492 ms</a:t>
            </a:r>
          </a:p>
          <a:p>
            <a:pPr>
              <a:buNone/>
            </a:pPr>
            <a:r>
              <a:rPr lang="es-MX" sz="1800" dirty="0">
                <a:effectLst/>
              </a:rPr>
              <a:t>Los percentiles muestran que incluso en los casos más lentos, el servicio mantiene tiempos aceptables y sin degradación alta.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E8AF4A2-CFFA-C01D-1B61-95CD9299E7FC}"/>
              </a:ext>
            </a:extLst>
          </p:cNvPr>
          <p:cNvSpPr txBox="1"/>
          <p:nvPr/>
        </p:nvSpPr>
        <p:spPr>
          <a:xfrm>
            <a:off x="925942" y="2271648"/>
            <a:ext cx="105131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1800" b="1" dirty="0">
                <a:effectLst/>
              </a:rPr>
              <a:t>Conclusión</a:t>
            </a:r>
          </a:p>
          <a:p>
            <a:pPr>
              <a:buNone/>
            </a:pPr>
            <a:endParaRPr lang="es-MX" sz="1800" b="1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800" dirty="0"/>
              <a:t>El sistema tiene un </a:t>
            </a:r>
            <a:r>
              <a:rPr lang="es-MX" sz="1800" b="1" dirty="0"/>
              <a:t>problema de escalabilidad bajo concurrencia leve, n</a:t>
            </a:r>
            <a:r>
              <a:rPr lang="es-MX" sz="1800" dirty="0"/>
              <a:t>o es saturación extrema.</a:t>
            </a:r>
            <a:br>
              <a:rPr lang="es-MX" sz="1800" dirty="0"/>
            </a:br>
            <a:r>
              <a:rPr lang="es-MX" sz="1800" dirty="0"/>
              <a:t>Es un cuello de botella estructural, con solo 1,5 ya aparecen solicitudes de 8 segundos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800" dirty="0"/>
              <a:t>Los usuarios esperarían de 4-8 segundos por los </a:t>
            </a:r>
            <a:r>
              <a:rPr lang="es-MX" sz="1800" dirty="0" err="1"/>
              <a:t>TimeOut</a:t>
            </a:r>
            <a:r>
              <a:rPr lang="es-MX" sz="1800" dirty="0"/>
              <a:t> de los </a:t>
            </a:r>
            <a:r>
              <a:rPr lang="es-MX" sz="1800" dirty="0" err="1"/>
              <a:t>front-End</a:t>
            </a:r>
            <a:r>
              <a:rPr lang="es-MX" sz="1800" dirty="0"/>
              <a:t> -  Resumió en Mala  experiencia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800" dirty="0"/>
              <a:t>Sistema que funciona bien en ejecución aislada pero bajo concurrencia empieza a encolarse</a:t>
            </a:r>
          </a:p>
          <a:p>
            <a:pPr>
              <a:buNone/>
            </a:pPr>
            <a:endParaRPr lang="es-MX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4002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6124F-C56F-6785-39B1-9E93F6AD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1AFB933-64D0-E8F1-8B36-F93984E3687F}"/>
              </a:ext>
            </a:extLst>
          </p:cNvPr>
          <p:cNvSpPr txBox="1"/>
          <p:nvPr/>
        </p:nvSpPr>
        <p:spPr>
          <a:xfrm>
            <a:off x="1341884" y="4005064"/>
            <a:ext cx="105851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800" b="1" dirty="0"/>
              <a:t>Diagnóstico Durante la Ejecución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dirty="0"/>
              <a:t>Observaciones típicas en tiempo real Latencias fluctuantes: se observan saltos desde ~900 ms hasta &gt; 4 s en intervalos aleatorios.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dirty="0"/>
              <a:t> Sin errores, lo que indica que el </a:t>
            </a:r>
            <a:r>
              <a:rPr lang="es-MX" sz="1800" dirty="0" err="1"/>
              <a:t>backend</a:t>
            </a:r>
            <a:r>
              <a:rPr lang="es-MX" sz="1800" dirty="0"/>
              <a:t> responde, pero no siempre dentro del SLA esperado.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800" dirty="0"/>
              <a:t> </a:t>
            </a:r>
            <a:r>
              <a:rPr lang="es-MX" sz="1800" dirty="0" err="1"/>
              <a:t>Throughput</a:t>
            </a:r>
            <a:r>
              <a:rPr lang="es-MX" sz="1800" dirty="0"/>
              <a:t> estable, sin caídas, lo que sugiere que el sistema no está rechazando </a:t>
            </a:r>
            <a:r>
              <a:rPr lang="es-MX" sz="1800" dirty="0" err="1"/>
              <a:t>solicitudes.Picos</a:t>
            </a:r>
            <a:r>
              <a:rPr lang="es-MX" sz="1800" dirty="0"/>
              <a:t> de 8.4 segundos: estos son críticos; deben investigarse porque afectan la experiencia del usuario.</a:t>
            </a:r>
            <a:endParaRPr lang="es-CO" sz="1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915D71-134B-CE0A-D87B-A34FF116D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908" y="357624"/>
            <a:ext cx="9535856" cy="343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41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F3176-0DF2-8E4D-19FE-5B841DC07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4B11CD25-D606-6927-7B82-7653F1675058}"/>
              </a:ext>
            </a:extLst>
          </p:cNvPr>
          <p:cNvSpPr txBox="1"/>
          <p:nvPr/>
        </p:nvSpPr>
        <p:spPr>
          <a:xfrm>
            <a:off x="1216409" y="4586352"/>
            <a:ext cx="105851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/>
              <a:t>El análisis del tiempo de conexión muestra que las conexiones están entre </a:t>
            </a:r>
            <a:r>
              <a:rPr lang="es-MX" sz="1800" b="1" dirty="0"/>
              <a:t>100–300 ms</a:t>
            </a:r>
            <a:r>
              <a:rPr lang="es-MX" sz="1800" dirty="0"/>
              <a:t> → comportamiento normal.</a:t>
            </a:r>
          </a:p>
          <a:p>
            <a:r>
              <a:rPr lang="es-MX" sz="1800" dirty="0"/>
              <a:t>Hay </a:t>
            </a:r>
            <a:r>
              <a:rPr lang="es-MX" sz="1800" b="1" dirty="0"/>
              <a:t>picos frecuentes de ~3,000 ms</a:t>
            </a:r>
            <a:r>
              <a:rPr lang="es-MX" sz="1800" dirty="0"/>
              <a:t>.</a:t>
            </a:r>
          </a:p>
          <a:p>
            <a:r>
              <a:rPr lang="es-MX" sz="1800" dirty="0"/>
              <a:t>Existe un </a:t>
            </a:r>
            <a:r>
              <a:rPr lang="es-MX" sz="1800" b="1" dirty="0"/>
              <a:t>pico crítico cercano a 7,200 ms</a:t>
            </a:r>
            <a:r>
              <a:rPr lang="es-MX" sz="1800" dirty="0"/>
              <a:t>.</a:t>
            </a:r>
          </a:p>
          <a:p>
            <a:r>
              <a:rPr lang="es-MX" sz="1800" dirty="0"/>
              <a:t>Los picos aparecen de forma intermitente, no constante.</a:t>
            </a:r>
            <a:endParaRPr lang="es-MX" sz="1800" dirty="0">
              <a:effectLst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B7402D-B7C8-400B-E004-A1B43F4C5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247" y="209197"/>
            <a:ext cx="10470338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74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AB73B-DB79-93E5-7514-A880B9262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AFA8668-78D0-6691-2ACA-18BEE1939AC3}"/>
              </a:ext>
            </a:extLst>
          </p:cNvPr>
          <p:cNvSpPr txBox="1"/>
          <p:nvPr/>
        </p:nvSpPr>
        <p:spPr>
          <a:xfrm>
            <a:off x="1053852" y="404664"/>
            <a:ext cx="10585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s-MX" sz="1800" dirty="0"/>
              <a:t>El sistema funciona en condiciones normales, pero </a:t>
            </a:r>
            <a:r>
              <a:rPr lang="es-MX" sz="1800" b="1" dirty="0"/>
              <a:t>bajo carga presenta fallos intermitentes importantes</a:t>
            </a:r>
            <a:r>
              <a:rPr lang="es-MX" sz="1800" dirty="0"/>
              <a:t> que pueden generar </a:t>
            </a:r>
            <a:r>
              <a:rPr lang="es-MX" sz="1800" dirty="0" err="1"/>
              <a:t>timeouts</a:t>
            </a:r>
            <a:r>
              <a:rPr lang="es-MX" sz="1800" dirty="0"/>
              <a:t> y mala experiencia de usuario.</a:t>
            </a:r>
            <a:endParaRPr lang="es-MX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6657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2">
            <a:extLst>
              <a:ext uri="{FF2B5EF4-FFF2-40B4-BE49-F238E27FC236}">
                <a16:creationId xmlns:a16="http://schemas.microsoft.com/office/drawing/2014/main" id="{34132A1C-23DD-5819-C1A2-5D9F86534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 rtlCol="0"/>
          <a:lstStyle/>
          <a:p>
            <a:r>
              <a:rPr lang="es-CO" dirty="0"/>
              <a:t>CONCLUSIONES GENERALES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550FEA6-E959-619B-A7FF-39E09F7E29E2}"/>
              </a:ext>
            </a:extLst>
          </p:cNvPr>
          <p:cNvSpPr txBox="1"/>
          <p:nvPr/>
        </p:nvSpPr>
        <p:spPr>
          <a:xfrm>
            <a:off x="1028355" y="979301"/>
            <a:ext cx="107415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MX" sz="1800" dirty="0"/>
              <a:t>Las pruebas muestran que el sistema funciona correctamente, pero presenta limitaciones de rendimiento y escalabilidad bajo incrementos mínimos de carga. Se recomienda realizar un análisis profundo de recursos y optimización antes de exponer el sistema a un entorno productivo con mayor concurrencia.</a:t>
            </a:r>
          </a:p>
          <a:p>
            <a:pPr algn="just">
              <a:buNone/>
            </a:pPr>
            <a:endParaRPr lang="es-MX" sz="1800" dirty="0"/>
          </a:p>
          <a:p>
            <a:pPr algn="just"/>
            <a:r>
              <a:rPr lang="es-MX" sz="1800" dirty="0"/>
              <a:t>Si se incrementa la carga a niveles reales de producción, es probable que: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1800" dirty="0"/>
              <a:t>Aumenten significativamente los tiempos de respuesta.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1800" dirty="0"/>
              <a:t>Se generen TIME OUT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1800" dirty="0"/>
              <a:t>Se genere mala experiencia del usuario.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s-MX" sz="1800" dirty="0"/>
          </a:p>
          <a:p>
            <a:pPr algn="just"/>
            <a:r>
              <a:rPr lang="es-MX" sz="1800" dirty="0"/>
              <a:t>Pasos a Seguir:</a:t>
            </a:r>
          </a:p>
          <a:p>
            <a:pPr algn="just"/>
            <a:endParaRPr lang="es-MX" sz="180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MX" sz="1800" dirty="0"/>
              <a:t>Medir tiempos por capa: Tiempo en base de datos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MX" sz="1800" dirty="0"/>
              <a:t>Tiempo en lógica de negocio T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MX" sz="1800" dirty="0"/>
              <a:t>Tiempo en llamadas externas Activar log de consultas lentas.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MX" sz="1800" dirty="0"/>
              <a:t>Revisar índices en base de datos.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MX" sz="1800" dirty="0"/>
              <a:t>Verificar tamaño del pool de conexiones.</a:t>
            </a:r>
          </a:p>
        </p:txBody>
      </p:sp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í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60_TF02787990_TF02787990.potx" id="{711CCDD4-BD90-4388-A31E-EA977055FCFF}" vid="{C5F9FE6A-8390-4E5A-B0DB-91EA047CC61C}"/>
    </a:ext>
  </a:extLst>
</a:theme>
</file>

<file path=ppt/theme/theme2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líneas de triple circuito (panorámica)</Template>
  <TotalTime>649</TotalTime>
  <Words>1540</Words>
  <Application>Microsoft Office PowerPoint</Application>
  <PresentationFormat>Personalizado</PresentationFormat>
  <Paragraphs>227</Paragraphs>
  <Slides>22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Aptos Narrow</vt:lpstr>
      <vt:lpstr>Arial</vt:lpstr>
      <vt:lpstr>Calibri</vt:lpstr>
      <vt:lpstr>Wingdings</vt:lpstr>
      <vt:lpstr>Tecnología 16x9</vt:lpstr>
      <vt:lpstr>PERFORMANCE</vt:lpstr>
      <vt:lpstr>OBJETIVO:</vt:lpstr>
      <vt:lpstr>OBJETIVO DE LA PRUEBA</vt:lpstr>
      <vt:lpstr>Alcance del Servicio Evaluado</vt:lpstr>
      <vt:lpstr>Métricas a Analizar</vt:lpstr>
      <vt:lpstr>Herramientas Utilizadas</vt:lpstr>
      <vt:lpstr>Descripción del Servicio Evaluado en la Prueba de Performance</vt:lpstr>
      <vt:lpstr>Servicio Bajo Prueba</vt:lpstr>
      <vt:lpstr>Objetivo de la Prueba de Performance</vt:lpstr>
      <vt:lpstr>Escenarios Evaluados</vt:lpstr>
      <vt:lpstr>Importancia del Servicio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 GENERALES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NORBERTO MANCERA OBANDO</dc:creator>
  <cp:lastModifiedBy>NORBERTO MANCERA OBANDO</cp:lastModifiedBy>
  <cp:revision>3</cp:revision>
  <dcterms:created xsi:type="dcterms:W3CDTF">2026-02-14T01:41:52Z</dcterms:created>
  <dcterms:modified xsi:type="dcterms:W3CDTF">2026-02-14T12:39:31Z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